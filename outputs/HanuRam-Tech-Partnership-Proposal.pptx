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D4C8082-2481-41F8-9C32-545D2A5C514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  /  PARTNERSHIP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BD9DCE-6EAA-4B3D-844C-47B3459C718A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A software partnership</a:t>
            </a:r>
          </a:p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to bring HanuRam Tech to market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0B028B-9005-4C67-AA28-6608D38E528A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Customer management • Data imports • Segmentation • Campaign operations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F32BDE-0B80-402B-8F0E-FFA9BAF97A63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95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0B1BC-4ABA-4798-B86C-5CA20936247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Confidential discussion draft  |  08 October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49AFF8-12E3-4C18-8B71-CA60D7349030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B97B47-F546-45D8-B8B6-F7454D2952E3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7239000" cy="1714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40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Build on the existing product.</a:t>
            </a:r>
          </a:p>
          <a:p>
            <a:pPr>
              <a:defRPr sz="240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Deliver a dependable pilot.</a:t>
            </a:r>
          </a:p>
          <a:p>
            <a:pPr>
              <a:defRPr sz="240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Create a repeatable commercial offering.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9D4770-6A6B-47AF-8334-6A99E475C780}"/>
              </a:ext>
            </a:extLst>
          </p:cNvPr>
          <p:cNvSpPr>
            <a:spLocks noGrp="1"/>
          </p:cNvSpPr>
          <p:nvPr/>
        </p:nvSpPr>
        <p:spPr>
          <a:xfrm>
            <a:off x="8763000" y="2714625"/>
            <a:ext cx="2819400" cy="247650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EBD218-25D4-4E94-BDB8-27DCAF2FFDD1}"/>
              </a:ext>
            </a:extLst>
          </p:cNvPr>
          <p:cNvSpPr>
            <a:spLocks noGrp="1"/>
          </p:cNvSpPr>
          <p:nvPr/>
        </p:nvSpPr>
        <p:spPr>
          <a:xfrm>
            <a:off x="9001125" y="2952750"/>
            <a:ext cx="2333625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PROPOSED</a:t>
            </a:r>
          </a:p>
          <a:p>
            <a:pPr>
              <a:defRPr sz="142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ENGAGEMENT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EFCB9F-1373-4190-9E77-AB89094A183F}"/>
              </a:ext>
            </a:extLst>
          </p:cNvPr>
          <p:cNvSpPr>
            <a:spLocks noGrp="1"/>
          </p:cNvSpPr>
          <p:nvPr/>
        </p:nvSpPr>
        <p:spPr>
          <a:xfrm>
            <a:off x="9001125" y="3762375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30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12 weeks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565EF5-5DC0-4203-B4E1-3E20E20F6145}"/>
              </a:ext>
            </a:extLst>
          </p:cNvPr>
          <p:cNvSpPr>
            <a:spLocks noGrp="1"/>
          </p:cNvSpPr>
          <p:nvPr/>
        </p:nvSpPr>
        <p:spPr>
          <a:xfrm>
            <a:off x="9001125" y="4572000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Scope and budget subject</a:t>
            </a:r>
          </a:p>
          <a:p>
            <a:pPr>
              <a:defRPr sz="135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to joint technical discovery</a:t>
            </a:r>
          </a:p>
        </p:txBody>
      </p:sp>
    </p:spTree>
    <p:extLst>
      <p:ext uri="{BB962C8B-B14F-4D97-AF65-F5344CB8AC3E}">
        <p14:creationId xmlns:p14="http://schemas.microsoft.com/office/powerpoint/2010/main" val="121456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8525826-5881-43F3-9C90-E9348CB4EF0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  /  PARTNERSHIP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00620B-A60D-4D6A-BF1D-E8208CB65F9E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The opportunity: one customer operating 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6C9D30-169A-4C70-B5EB-87B410D33D47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Proposed positioning for businesses managing customer data and campaign activity.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998DCD-04F7-44FA-BE7B-41EDEA37A09A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95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EBF384-E87B-4EB0-AD7C-78407587307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Confidential discussion draft  |  08 October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6DE75B-93D8-45D7-9546-537C4478780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449C16-3F89-44B7-A7B1-6270FC8342FD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3505200" cy="2952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87D4C9-CA82-4746-8EC4-49F758A1DB32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Business problem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0FB71-DA2F-4ECF-A2E8-6A78F5CF48B0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048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Customer records spread across files.</a:t>
            </a:r>
          </a:p>
          <a:p>
            <a:endParaRPr sz="1650" b="0">
              <a:solidFill>
                <a:srgbClr val="F3F6FA"/>
              </a:solidFill>
              <a:latin typeface="Arial"/>
              <a:ea typeface="Arial"/>
              <a:cs typeface="Arial"/>
            </a:endParaRP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Manual audience preparation and fragmented campaign reporting.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F99565-DD14-47CE-A1AE-97C59A731E06}"/>
              </a:ext>
            </a:extLst>
          </p:cNvPr>
          <p:cNvSpPr>
            <a:spLocks noGrp="1"/>
          </p:cNvSpPr>
          <p:nvPr/>
        </p:nvSpPr>
        <p:spPr>
          <a:xfrm>
            <a:off x="4343400" y="2524125"/>
            <a:ext cx="3505200" cy="2952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96BFD3-2EBE-4382-ADC8-90AB09C7947B}"/>
              </a:ext>
            </a:extLst>
          </p:cNvPr>
          <p:cNvSpPr>
            <a:spLocks noGrp="1"/>
          </p:cNvSpPr>
          <p:nvPr/>
        </p:nvSpPr>
        <p:spPr>
          <a:xfrm>
            <a:off x="4572000" y="27622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Product proposition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841D5A-F609-40E8-A8F2-90C4AE0FD597}"/>
              </a:ext>
            </a:extLst>
          </p:cNvPr>
          <p:cNvSpPr>
            <a:spLocks noGrp="1"/>
          </p:cNvSpPr>
          <p:nvPr/>
        </p:nvSpPr>
        <p:spPr>
          <a:xfrm>
            <a:off x="4572000" y="3524250"/>
            <a:ext cx="3048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Bring imports, customer records, segments and campaign workflows into one web application.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46B9ED-3975-4110-8631-EE450522C71A}"/>
              </a:ext>
            </a:extLst>
          </p:cNvPr>
          <p:cNvSpPr>
            <a:spLocks noGrp="1"/>
          </p:cNvSpPr>
          <p:nvPr/>
        </p:nvSpPr>
        <p:spPr>
          <a:xfrm>
            <a:off x="8077200" y="2524125"/>
            <a:ext cx="3505200" cy="2952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34C9CD-6DBF-4BAD-97E1-95CC56BFACE9}"/>
              </a:ext>
            </a:extLst>
          </p:cNvPr>
          <p:cNvSpPr>
            <a:spLocks noGrp="1"/>
          </p:cNvSpPr>
          <p:nvPr/>
        </p:nvSpPr>
        <p:spPr>
          <a:xfrm>
            <a:off x="8305800" y="27622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Partnership objective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0267AC-B011-44A1-9DD5-607307E18F59}"/>
              </a:ext>
            </a:extLst>
          </p:cNvPr>
          <p:cNvSpPr>
            <a:spLocks noGrp="1"/>
          </p:cNvSpPr>
          <p:nvPr/>
        </p:nvSpPr>
        <p:spPr>
          <a:xfrm>
            <a:off x="8305800" y="3524250"/>
            <a:ext cx="3048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Combine product ownership and domain knowledge with engineering, quality assurance and launch delivery.</a:t>
            </a:r>
          </a:p>
        </p:txBody>
      </p:sp>
    </p:spTree>
    <p:extLst>
      <p:ext uri="{BB962C8B-B14F-4D97-AF65-F5344CB8AC3E}">
        <p14:creationId xmlns:p14="http://schemas.microsoft.com/office/powerpoint/2010/main" val="1988818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7D80AB3-2E71-4B27-A2B4-7628CBDFFBA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  /  PARTNERSHIP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0514AD-DC4E-4DD6-A436-37B70216EBD2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Existing modules need production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36768E-A026-4E99-BE60-AF6986FF2546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Feature presence is evidenced by frontend routes and modules; live functionality has not been audited.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8376A9-B8F7-4D45-B22C-94DD79E3A840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95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22A2CC-E82A-405F-AF98-1C4AB037C7C5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Confidential discussion draft  |  08 October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75DF18-62F8-402B-9647-A073E2B72F0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0A6608-360B-4DDC-96DA-275428F88A1D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972800" cy="4286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0702A8-9800-4955-BC3D-889D9889FFB2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A00D5A-FD8D-4DDF-A48E-77268120231B}"/>
              </a:ext>
            </a:extLst>
          </p:cNvPr>
          <p:cNvSpPr>
            <a:spLocks noGrp="1"/>
          </p:cNvSpPr>
          <p:nvPr/>
        </p:nvSpPr>
        <p:spPr>
          <a:xfrm>
            <a:off x="6000750" y="25717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Evidence in project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650D1C-23C8-4A7D-B3EF-E7C230293D3D}"/>
              </a:ext>
            </a:extLst>
          </p:cNvPr>
          <p:cNvSpPr>
            <a:spLocks noGrp="1"/>
          </p:cNvSpPr>
          <p:nvPr/>
        </p:nvSpPr>
        <p:spPr>
          <a:xfrm>
            <a:off x="8858250" y="257175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Readiness treatment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7F7242-8A9E-42B6-A24B-113C84D583F8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F77B3A-4422-4587-8E5A-D5BF739E08E3}"/>
              </a:ext>
            </a:extLst>
          </p:cNvPr>
          <p:cNvSpPr>
            <a:spLocks noGrp="1"/>
          </p:cNvSpPr>
          <p:nvPr/>
        </p:nvSpPr>
        <p:spPr>
          <a:xfrm>
            <a:off x="762000" y="3019425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Customer records + sales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E9D2EB-26E7-4A24-85E9-374D5DED717E}"/>
              </a:ext>
            </a:extLst>
          </p:cNvPr>
          <p:cNvSpPr>
            <a:spLocks noGrp="1"/>
          </p:cNvSpPr>
          <p:nvPr/>
        </p:nvSpPr>
        <p:spPr>
          <a:xfrm>
            <a:off x="6000750" y="301942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Pages and API services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DB16FE-4233-4CFD-8E91-ECAE24562941}"/>
              </a:ext>
            </a:extLst>
          </p:cNvPr>
          <p:cNvSpPr>
            <a:spLocks noGrp="1"/>
          </p:cNvSpPr>
          <p:nvPr/>
        </p:nvSpPr>
        <p:spPr>
          <a:xfrm>
            <a:off x="8858250" y="3019425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Validate end to end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5F9373-1DB2-4096-A97C-10F4297D7368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10972800" cy="428625"/>
          </a:xfrm>
          <a:prstGeom prst="rect">
            <a:avLst/>
          </a:prstGeom>
          <a:solidFill>
            <a:srgbClr val="0B192B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931B94-F911-4508-9BC8-450ACA044562}"/>
              </a:ext>
            </a:extLst>
          </p:cNvPr>
          <p:cNvSpPr>
            <a:spLocks noGrp="1"/>
          </p:cNvSpPr>
          <p:nvPr/>
        </p:nvSpPr>
        <p:spPr>
          <a:xfrm>
            <a:off x="762000" y="346710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Excel import + mapping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3DF1BF-5865-4B58-B75E-6E57458B2CEF}"/>
              </a:ext>
            </a:extLst>
          </p:cNvPr>
          <p:cNvSpPr>
            <a:spLocks noGrp="1"/>
          </p:cNvSpPr>
          <p:nvPr/>
        </p:nvSpPr>
        <p:spPr>
          <a:xfrm>
            <a:off x="6000750" y="34671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Import workflow components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A02E1D-AE3B-4787-BF01-5CE786B9FF5A}"/>
              </a:ext>
            </a:extLst>
          </p:cNvPr>
          <p:cNvSpPr>
            <a:spLocks noGrp="1"/>
          </p:cNvSpPr>
          <p:nvPr/>
        </p:nvSpPr>
        <p:spPr>
          <a:xfrm>
            <a:off x="8858250" y="346710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Test data quality + scale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467E66-A6A6-4901-97D3-43ADE975C766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9B03A0-5B78-4A0F-898B-DFB48DBBA79C}"/>
              </a:ext>
            </a:extLst>
          </p:cNvPr>
          <p:cNvSpPr>
            <a:spLocks noGrp="1"/>
          </p:cNvSpPr>
          <p:nvPr/>
        </p:nvSpPr>
        <p:spPr>
          <a:xfrm>
            <a:off x="762000" y="3914775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Segments + campaigns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BBA26D-CE0F-407A-8A24-EE0B289C408F}"/>
              </a:ext>
            </a:extLst>
          </p:cNvPr>
          <p:cNvSpPr>
            <a:spLocks noGrp="1"/>
          </p:cNvSpPr>
          <p:nvPr/>
        </p:nvSpPr>
        <p:spPr>
          <a:xfrm>
            <a:off x="6000750" y="391477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Routes and API services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17E5A0-3BAF-42A7-9D04-BC779ADB45E1}"/>
              </a:ext>
            </a:extLst>
          </p:cNvPr>
          <p:cNvSpPr>
            <a:spLocks noGrp="1"/>
          </p:cNvSpPr>
          <p:nvPr/>
        </p:nvSpPr>
        <p:spPr>
          <a:xfrm>
            <a:off x="8858250" y="3914775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Validate execution lifecycle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E508FE-390F-4ADF-A5BA-36C8C52EB57C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10972800" cy="428625"/>
          </a:xfrm>
          <a:prstGeom prst="rect">
            <a:avLst/>
          </a:prstGeom>
          <a:solidFill>
            <a:srgbClr val="0B192B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543E00-41A8-4C0B-88A9-598C9C0ECCDD}"/>
              </a:ext>
            </a:extLst>
          </p:cNvPr>
          <p:cNvSpPr>
            <a:spLocks noGrp="1"/>
          </p:cNvSpPr>
          <p:nvPr/>
        </p:nvSpPr>
        <p:spPr>
          <a:xfrm>
            <a:off x="762000" y="436245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WhatsApp + templates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B61A8E-EFC9-427D-A695-29941FA2D35C}"/>
              </a:ext>
            </a:extLst>
          </p:cNvPr>
          <p:cNvSpPr>
            <a:spLocks noGrp="1"/>
          </p:cNvSpPr>
          <p:nvPr/>
        </p:nvSpPr>
        <p:spPr>
          <a:xfrm>
            <a:off x="6000750" y="43624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Marketing tools and services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8FE83F-4CDA-4667-82CB-1D122514555B}"/>
              </a:ext>
            </a:extLst>
          </p:cNvPr>
          <p:cNvSpPr>
            <a:spLocks noGrp="1"/>
          </p:cNvSpPr>
          <p:nvPr/>
        </p:nvSpPr>
        <p:spPr>
          <a:xfrm>
            <a:off x="8858250" y="436245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Verify provider integration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DED1EA-C444-403E-B28D-B520280192AE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250802-C350-46CD-B233-A6B72A49236E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Analytics + reporting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9CCE5C-A929-43AF-BCDC-582E3654F105}"/>
              </a:ext>
            </a:extLst>
          </p:cNvPr>
          <p:cNvSpPr>
            <a:spLocks noGrp="1"/>
          </p:cNvSpPr>
          <p:nvPr/>
        </p:nvSpPr>
        <p:spPr>
          <a:xfrm>
            <a:off x="6000750" y="481012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Dashboard and report pages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000149-00FA-4322-926D-5D2E1E83D56D}"/>
              </a:ext>
            </a:extLst>
          </p:cNvPr>
          <p:cNvSpPr>
            <a:spLocks noGrp="1"/>
          </p:cNvSpPr>
          <p:nvPr/>
        </p:nvSpPr>
        <p:spPr>
          <a:xfrm>
            <a:off x="8858250" y="4810125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Reconcile with source data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1BCF79-B2FD-4B75-8626-94B846144F67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428625"/>
          </a:xfrm>
          <a:prstGeom prst="rect">
            <a:avLst/>
          </a:prstGeom>
          <a:solidFill>
            <a:srgbClr val="0B192B"/>
          </a:solidFill>
          <a:ln w="0">
            <a:noFill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35CF9A-45B3-4CC5-A7E8-EF7718D91A04}"/>
              </a:ext>
            </a:extLst>
          </p:cNvPr>
          <p:cNvSpPr>
            <a:spLocks noGrp="1"/>
          </p:cNvSpPr>
          <p:nvPr/>
        </p:nvSpPr>
        <p:spPr>
          <a:xfrm>
            <a:off x="762000" y="525780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Users + role permissions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54D4A4-08C0-4852-BF15-829F6D6B1CF3}"/>
              </a:ext>
            </a:extLst>
          </p:cNvPr>
          <p:cNvSpPr>
            <a:spLocks noGrp="1"/>
          </p:cNvSpPr>
          <p:nvPr/>
        </p:nvSpPr>
        <p:spPr>
          <a:xfrm>
            <a:off x="6000750" y="52578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Route guards + RBAC helpers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98CDD9-8C51-4437-BA3E-31528C77848A}"/>
              </a:ext>
            </a:extLst>
          </p:cNvPr>
          <p:cNvSpPr>
            <a:spLocks noGrp="1"/>
          </p:cNvSpPr>
          <p:nvPr/>
        </p:nvSpPr>
        <p:spPr>
          <a:xfrm>
            <a:off x="8858250" y="525780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Verify server enforcement</a:t>
            </a:r>
          </a:p>
        </p:txBody>
      </p:sp>
    </p:spTree>
    <p:extLst>
      <p:ext uri="{BB962C8B-B14F-4D97-AF65-F5344CB8AC3E}">
        <p14:creationId xmlns:p14="http://schemas.microsoft.com/office/powerpoint/2010/main" val="1670632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5D2FFAF-2983-4DA8-A0BD-3F1237FB737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  /  PARTNERSHIP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4280D9-6BD5-4CC9-8B75-AC454EB91F4A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Preserve the stack and strengthen delivery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1E832C-DBB5-41D0-9E4A-490444CD8064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Existing frontend dependencies and documented backend/deployment architecture.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8D5242-F78F-4F8D-B3E9-3A07995D09CC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95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BC13A1-B525-45BE-AF59-D67F528BB2D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Confidential discussion draft  |  08 October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4372F6-98AA-4753-9E96-1C7BF79EEC53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F8E423-0997-43BD-9AF0-78F1D98EC9EC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3505200" cy="2952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65BA14-BA77-47B5-BDEE-C1158AB33009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A8D8E2-EBF2-478C-8A0F-2734607CEFCE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048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React 19 + Vite 8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React Router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TanStack Query + Axios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Zustand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Tailwind CSS + Radix UI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Recharts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321D2D-BBF0-4A12-A140-A71FA2C4271D}"/>
              </a:ext>
            </a:extLst>
          </p:cNvPr>
          <p:cNvSpPr>
            <a:spLocks noGrp="1"/>
          </p:cNvSpPr>
          <p:nvPr/>
        </p:nvSpPr>
        <p:spPr>
          <a:xfrm>
            <a:off x="4343400" y="2524125"/>
            <a:ext cx="3505200" cy="2952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BA4C5F-8288-4375-9B1B-D25779A2DACB}"/>
              </a:ext>
            </a:extLst>
          </p:cNvPr>
          <p:cNvSpPr>
            <a:spLocks noGrp="1"/>
          </p:cNvSpPr>
          <p:nvPr/>
        </p:nvSpPr>
        <p:spPr>
          <a:xfrm>
            <a:off x="4572000" y="27622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Services +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1288D8-FB09-4C63-94E4-C2B5C4F35A77}"/>
              </a:ext>
            </a:extLst>
          </p:cNvPr>
          <p:cNvSpPr>
            <a:spLocks noGrp="1"/>
          </p:cNvSpPr>
          <p:nvPr/>
        </p:nvSpPr>
        <p:spPr>
          <a:xfrm>
            <a:off x="4572000" y="3524250"/>
            <a:ext cx="3048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Python 3.13 + FastAPI*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PostgreSQL*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Redis*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Socket.IO client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REST API integrations</a:t>
            </a:r>
          </a:p>
          <a:p>
            <a:endParaRPr sz="1650" b="0">
              <a:solidFill>
                <a:srgbClr val="F3F6FA"/>
              </a:solidFill>
              <a:latin typeface="Arial"/>
              <a:ea typeface="Arial"/>
              <a:cs typeface="Arial"/>
            </a:endParaRP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*Documented in README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83711D-7173-4E3B-B11B-34B2EE580B6D}"/>
              </a:ext>
            </a:extLst>
          </p:cNvPr>
          <p:cNvSpPr>
            <a:spLocks noGrp="1"/>
          </p:cNvSpPr>
          <p:nvPr/>
        </p:nvSpPr>
        <p:spPr>
          <a:xfrm>
            <a:off x="8077200" y="2524125"/>
            <a:ext cx="3505200" cy="2952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6072A-DA34-420D-B702-33D0AA7C26F8}"/>
              </a:ext>
            </a:extLst>
          </p:cNvPr>
          <p:cNvSpPr>
            <a:spLocks noGrp="1"/>
          </p:cNvSpPr>
          <p:nvPr/>
        </p:nvSpPr>
        <p:spPr>
          <a:xfrm>
            <a:off x="8305800" y="27622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85B0C8-3A91-4343-8135-64F43FF6A725}"/>
              </a:ext>
            </a:extLst>
          </p:cNvPr>
          <p:cNvSpPr>
            <a:spLocks noGrp="1"/>
          </p:cNvSpPr>
          <p:nvPr/>
        </p:nvSpPr>
        <p:spPr>
          <a:xfrm>
            <a:off x="8305800" y="3524250"/>
            <a:ext cx="3048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Docker Compose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Nginx reverse proxy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GitHub Actions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Container registry publishing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Health checks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Optional SSH deployment</a:t>
            </a:r>
          </a:p>
        </p:txBody>
      </p:sp>
    </p:spTree>
    <p:extLst>
      <p:ext uri="{BB962C8B-B14F-4D97-AF65-F5344CB8AC3E}">
        <p14:creationId xmlns:p14="http://schemas.microsoft.com/office/powerpoint/2010/main" val="169506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DCA32BB-7676-4383-ACAF-AF85C6F5F06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  /  PARTNERSHIP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F29C8-0DF8-427D-A455-787A1C35D985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A clear architecture supports the pilot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7EB27E-3364-4ACA-B8B2-432E0B380948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Architecture based on repository documentation; backend implementation requires a joint review.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D94D59-BBB2-4E3F-8BF0-A535F4D5265F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95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0533F9-FE41-498B-B46F-36D12F82139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Confidential discussion draft  |  08 October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55DB34-BBD4-49FC-BE9F-0171B125C49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41A35C-4956-473A-8774-39A524BD4832}"/>
              </a:ext>
            </a:extLst>
          </p:cNvPr>
          <p:cNvSpPr>
            <a:spLocks noGrp="1"/>
          </p:cNvSpPr>
          <p:nvPr/>
        </p:nvSpPr>
        <p:spPr>
          <a:xfrm>
            <a:off x="609600" y="2619375"/>
            <a:ext cx="3505200" cy="1428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B7BBDD-0F27-43E5-9E77-EFA0407F1D9D}"/>
              </a:ext>
            </a:extLst>
          </p:cNvPr>
          <p:cNvSpPr>
            <a:spLocks noGrp="1"/>
          </p:cNvSpPr>
          <p:nvPr/>
        </p:nvSpPr>
        <p:spPr>
          <a:xfrm>
            <a:off x="800100" y="2819400"/>
            <a:ext cx="3124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WEB CLIENT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B0428-180A-4551-964B-276927EBE2AD}"/>
              </a:ext>
            </a:extLst>
          </p:cNvPr>
          <p:cNvSpPr>
            <a:spLocks noGrp="1"/>
          </p:cNvSpPr>
          <p:nvPr/>
        </p:nvSpPr>
        <p:spPr>
          <a:xfrm>
            <a:off x="800100" y="3286125"/>
            <a:ext cx="31242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React application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Roles and workflow UI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E30F2D-BD42-4DCC-A800-C377E0CE26C2}"/>
              </a:ext>
            </a:extLst>
          </p:cNvPr>
          <p:cNvSpPr>
            <a:spLocks noGrp="1"/>
          </p:cNvSpPr>
          <p:nvPr/>
        </p:nvSpPr>
        <p:spPr>
          <a:xfrm>
            <a:off x="4086225" y="3143250"/>
            <a:ext cx="2857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250" b="0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42D6B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534EC6-85B6-4102-BA7B-844C0B587006}"/>
              </a:ext>
            </a:extLst>
          </p:cNvPr>
          <p:cNvSpPr>
            <a:spLocks noGrp="1"/>
          </p:cNvSpPr>
          <p:nvPr/>
        </p:nvSpPr>
        <p:spPr>
          <a:xfrm>
            <a:off x="4343400" y="2619375"/>
            <a:ext cx="3505200" cy="1428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F56109-4CE6-47B4-8311-4DAC4D5293EA}"/>
              </a:ext>
            </a:extLst>
          </p:cNvPr>
          <p:cNvSpPr>
            <a:spLocks noGrp="1"/>
          </p:cNvSpPr>
          <p:nvPr/>
        </p:nvSpPr>
        <p:spPr>
          <a:xfrm>
            <a:off x="4533900" y="2819400"/>
            <a:ext cx="3124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APPLICATION EDGE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4A5154-123B-4C6A-A49D-33006E61D8A0}"/>
              </a:ext>
            </a:extLst>
          </p:cNvPr>
          <p:cNvSpPr>
            <a:spLocks noGrp="1"/>
          </p:cNvSpPr>
          <p:nvPr/>
        </p:nvSpPr>
        <p:spPr>
          <a:xfrm>
            <a:off x="4533900" y="3286125"/>
            <a:ext cx="31242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Nginx / Vite proxy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API + socket routing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577864-7A0C-42D6-93F7-3349624844B8}"/>
              </a:ext>
            </a:extLst>
          </p:cNvPr>
          <p:cNvSpPr>
            <a:spLocks noGrp="1"/>
          </p:cNvSpPr>
          <p:nvPr/>
        </p:nvSpPr>
        <p:spPr>
          <a:xfrm>
            <a:off x="7820025" y="3143250"/>
            <a:ext cx="2857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250" b="0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42D6B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71CC27-E774-4708-8853-2F0C6811C7E4}"/>
              </a:ext>
            </a:extLst>
          </p:cNvPr>
          <p:cNvSpPr>
            <a:spLocks noGrp="1"/>
          </p:cNvSpPr>
          <p:nvPr/>
        </p:nvSpPr>
        <p:spPr>
          <a:xfrm>
            <a:off x="8077200" y="2619375"/>
            <a:ext cx="3505200" cy="1428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29495A-2F90-4059-BBD7-B039C6AC6F67}"/>
              </a:ext>
            </a:extLst>
          </p:cNvPr>
          <p:cNvSpPr>
            <a:spLocks noGrp="1"/>
          </p:cNvSpPr>
          <p:nvPr/>
        </p:nvSpPr>
        <p:spPr>
          <a:xfrm>
            <a:off x="8267700" y="2819400"/>
            <a:ext cx="31242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SERVICE LAYER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D30727-B70A-42F3-99EA-AEBAD9D294D1}"/>
              </a:ext>
            </a:extLst>
          </p:cNvPr>
          <p:cNvSpPr>
            <a:spLocks noGrp="1"/>
          </p:cNvSpPr>
          <p:nvPr/>
        </p:nvSpPr>
        <p:spPr>
          <a:xfrm>
            <a:off x="8267700" y="3286125"/>
            <a:ext cx="31242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FastAPI backend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Business rules + integrations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4160E4-8323-4123-A725-FFBD3C156953}"/>
              </a:ext>
            </a:extLst>
          </p:cNvPr>
          <p:cNvSpPr>
            <a:spLocks noGrp="1"/>
          </p:cNvSpPr>
          <p:nvPr/>
        </p:nvSpPr>
        <p:spPr>
          <a:xfrm>
            <a:off x="4343400" y="4524375"/>
            <a:ext cx="3505200" cy="114300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0D9293-9344-421F-9C12-8F60AD101713}"/>
              </a:ext>
            </a:extLst>
          </p:cNvPr>
          <p:cNvSpPr>
            <a:spLocks noGrp="1"/>
          </p:cNvSpPr>
          <p:nvPr/>
        </p:nvSpPr>
        <p:spPr>
          <a:xfrm>
            <a:off x="4572000" y="468630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DATA SERVICES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CDA599-8EA4-41BA-8E7A-8E9A3D8BE027}"/>
              </a:ext>
            </a:extLst>
          </p:cNvPr>
          <p:cNvSpPr>
            <a:spLocks noGrp="1"/>
          </p:cNvSpPr>
          <p:nvPr/>
        </p:nvSpPr>
        <p:spPr>
          <a:xfrm>
            <a:off x="4572000" y="5143500"/>
            <a:ext cx="30480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PostgreSQL  •  Redis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CDA525-6E5C-46CA-B107-715D917E5FC4}"/>
              </a:ext>
            </a:extLst>
          </p:cNvPr>
          <p:cNvSpPr>
            <a:spLocks noGrp="1"/>
          </p:cNvSpPr>
          <p:nvPr/>
        </p:nvSpPr>
        <p:spPr>
          <a:xfrm>
            <a:off x="8172450" y="4572000"/>
            <a:ext cx="3333750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External messaging provider integration</a:t>
            </a:r>
          </a:p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Provider setup and delivery behavior to be verified</a:t>
            </a:r>
          </a:p>
        </p:txBody>
      </p:sp>
    </p:spTree>
    <p:extLst>
      <p:ext uri="{BB962C8B-B14F-4D97-AF65-F5344CB8AC3E}">
        <p14:creationId xmlns:p14="http://schemas.microsoft.com/office/powerpoint/2010/main" val="1035931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EFD25F4-E673-45A1-BB42-82FE237CAD0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  /  PARTNERSHIP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168591-270D-4B35-864A-DCFA6750E8CC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Define a focused, measurable pilot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F1588C-1287-4168-8B7A-358CC5822939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Proposed scope: one business deployment, one messaging provider and existing core workflows.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F2A974-C734-46CA-9EFF-8F2A46AC45B1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95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E547A8-95B1-4DA2-B130-C4AC4533B83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Confidential discussion draft  |  08 October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375134-28EB-472B-8914-59B15F1AC15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0D5771-D702-42D9-988E-4B9F436C6E8E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3505200" cy="2952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15D088-9A1E-4495-BD05-1B018C6B53D3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Included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1C497E-05EA-47E1-9888-9717DEB069DA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048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Customer and sales records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Import mapping + validation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Segments and campaigns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Templates and messaging flow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Roles, dashboards and reports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13AB70-2361-4546-9770-388A2786C6D8}"/>
              </a:ext>
            </a:extLst>
          </p:cNvPr>
          <p:cNvSpPr>
            <a:spLocks noGrp="1"/>
          </p:cNvSpPr>
          <p:nvPr/>
        </p:nvSpPr>
        <p:spPr>
          <a:xfrm>
            <a:off x="4343400" y="2524125"/>
            <a:ext cx="3505200" cy="2952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EBCDE-04E0-4396-BC6A-BA40B6948152}"/>
              </a:ext>
            </a:extLst>
          </p:cNvPr>
          <p:cNvSpPr>
            <a:spLocks noGrp="1"/>
          </p:cNvSpPr>
          <p:nvPr/>
        </p:nvSpPr>
        <p:spPr>
          <a:xfrm>
            <a:off x="4572000" y="27622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Acceptance evidence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2250FF-5A56-4EFE-9E40-97EA88C31CD0}"/>
              </a:ext>
            </a:extLst>
          </p:cNvPr>
          <p:cNvSpPr>
            <a:spLocks noGrp="1"/>
          </p:cNvSpPr>
          <p:nvPr/>
        </p:nvSpPr>
        <p:spPr>
          <a:xfrm>
            <a:off x="4572000" y="3524250"/>
            <a:ext cx="3048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Import accuracy on agreed files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Server-side permission checks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Campaign status reconciliation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Backup restore demonstration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Signed business-user acceptance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E1E483-1E20-49BA-8814-4D12CF2350CF}"/>
              </a:ext>
            </a:extLst>
          </p:cNvPr>
          <p:cNvSpPr>
            <a:spLocks noGrp="1"/>
          </p:cNvSpPr>
          <p:nvPr/>
        </p:nvSpPr>
        <p:spPr>
          <a:xfrm>
            <a:off x="8077200" y="2524125"/>
            <a:ext cx="3505200" cy="2952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2C10C5-D0DD-4240-8EAB-28B3CB8F464B}"/>
              </a:ext>
            </a:extLst>
          </p:cNvPr>
          <p:cNvSpPr>
            <a:spLocks noGrp="1"/>
          </p:cNvSpPr>
          <p:nvPr/>
        </p:nvSpPr>
        <p:spPr>
          <a:xfrm>
            <a:off x="8305800" y="27622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Separate scope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24B409-C8FB-4915-AB8A-FC2FC3615777}"/>
              </a:ext>
            </a:extLst>
          </p:cNvPr>
          <p:cNvSpPr>
            <a:spLocks noGrp="1"/>
          </p:cNvSpPr>
          <p:nvPr/>
        </p:nvSpPr>
        <p:spPr>
          <a:xfrm>
            <a:off x="8305800" y="3524250"/>
            <a:ext cx="3048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Native mobile applications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Multi-tenant SaaS isolation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Large historical migrations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Advanced AI or ERP connectors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Additional provider integrations</a:t>
            </a:r>
          </a:p>
        </p:txBody>
      </p:sp>
    </p:spTree>
    <p:extLst>
      <p:ext uri="{BB962C8B-B14F-4D97-AF65-F5344CB8AC3E}">
        <p14:creationId xmlns:p14="http://schemas.microsoft.com/office/powerpoint/2010/main" val="158622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F79BD6F-0489-4FD2-9926-D80979DFEDC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  /  PARTNERSHIP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E7094A-E795-4261-8CA9-0894586C88C5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Use a delivery partnership with explicit ownership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264122-85ED-4452-BBE7-947C31001F70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Proposed commercial structure for discussion; no equity or revenue terms are assumed.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3231FE-EB75-4FE9-8FDB-2FAD4B1DA1FD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95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FB1F46-7D47-4761-AEFF-8957A17D7C0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Confidential discussion draft  |  08 October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E257A3-3828-4158-B9D7-A9817C26004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E2D5D8-ADEE-4012-890E-060322046FA4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3505200" cy="2952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6DD35B-17C9-4A9F-863C-E3124758BC17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12FBE5-D0C6-4225-A641-29081955EE7E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048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Product vision and priorities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Business workflow decisions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Pilot customer coordination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Acceptance and sign-off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Brand and sales direction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A7C81A-9238-47C4-BB1D-EA9C1406207A}"/>
              </a:ext>
            </a:extLst>
          </p:cNvPr>
          <p:cNvSpPr>
            <a:spLocks noGrp="1"/>
          </p:cNvSpPr>
          <p:nvPr/>
        </p:nvSpPr>
        <p:spPr>
          <a:xfrm>
            <a:off x="4343400" y="2524125"/>
            <a:ext cx="3505200" cy="2952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A1AF4E-14DF-4162-BD3C-8DFADD2EA96E}"/>
              </a:ext>
            </a:extLst>
          </p:cNvPr>
          <p:cNvSpPr>
            <a:spLocks noGrp="1"/>
          </p:cNvSpPr>
          <p:nvPr/>
        </p:nvSpPr>
        <p:spPr>
          <a:xfrm>
            <a:off x="4572000" y="27622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Software partner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FC38EF-2A72-4CCC-A161-C8025DA791A4}"/>
              </a:ext>
            </a:extLst>
          </p:cNvPr>
          <p:cNvSpPr>
            <a:spLocks noGrp="1"/>
          </p:cNvSpPr>
          <p:nvPr/>
        </p:nvSpPr>
        <p:spPr>
          <a:xfrm>
            <a:off x="4572000" y="3524250"/>
            <a:ext cx="3048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Technical discovery and estimates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Engineering and code review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Integration and QA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Deployment and runbooks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Support during pilot launch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0A47B8-278E-43AD-820D-20CFDAB790AC}"/>
              </a:ext>
            </a:extLst>
          </p:cNvPr>
          <p:cNvSpPr>
            <a:spLocks noGrp="1"/>
          </p:cNvSpPr>
          <p:nvPr/>
        </p:nvSpPr>
        <p:spPr>
          <a:xfrm>
            <a:off x="8077200" y="2524125"/>
            <a:ext cx="3505200" cy="2952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E93449-A466-4072-B402-EEC7277D464B}"/>
              </a:ext>
            </a:extLst>
          </p:cNvPr>
          <p:cNvSpPr>
            <a:spLocks noGrp="1"/>
          </p:cNvSpPr>
          <p:nvPr/>
        </p:nvSpPr>
        <p:spPr>
          <a:xfrm>
            <a:off x="8305800" y="27622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Working agreement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57A502-5CA4-43D1-87EA-5AF424AD6409}"/>
              </a:ext>
            </a:extLst>
          </p:cNvPr>
          <p:cNvSpPr>
            <a:spLocks noGrp="1"/>
          </p:cNvSpPr>
          <p:nvPr/>
        </p:nvSpPr>
        <p:spPr>
          <a:xfrm>
            <a:off x="8305800" y="3524250"/>
            <a:ext cx="3048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Milestone statement of work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Weekly demo + issue review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Shared repository visibility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Document IP and data ownership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Change and exit process</a:t>
            </a:r>
          </a:p>
        </p:txBody>
      </p:sp>
    </p:spTree>
    <p:extLst>
      <p:ext uri="{BB962C8B-B14F-4D97-AF65-F5344CB8AC3E}">
        <p14:creationId xmlns:p14="http://schemas.microsoft.com/office/powerpoint/2010/main" val="1336976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D8B815E-9883-416B-B94D-F3F52D892F9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  /  PARTNERSHIP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1DF1B1-7809-49E0-A4E2-666951202686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A 12-week plan moves from audit to launch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E70F3F-5124-4243-8D4B-FF042AFCF117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Indicative schedule assumes existing code is reusable and reviews happen within two working days.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74938E-D88E-4C55-A72D-79B1D136F81C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95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2C2A3C-D6C3-4184-BA8D-9D8B0E3FBB5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Confidential discussion draft  |  08 October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22F2F3-AB9E-4DA8-B0EB-BC3AC0B2EFE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5C6DAC-9D1F-4ED5-9B7D-B3836A9D56D9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972800" cy="4286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D6A83E-557D-4001-A7B1-6DE78DB4801D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Phase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B30783-5698-4607-B445-BE83106C69A6}"/>
              </a:ext>
            </a:extLst>
          </p:cNvPr>
          <p:cNvSpPr>
            <a:spLocks noGrp="1"/>
          </p:cNvSpPr>
          <p:nvPr/>
        </p:nvSpPr>
        <p:spPr>
          <a:xfrm>
            <a:off x="6000750" y="25717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Timing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8487-D030-44FD-BEAF-3ABEA7890DCB}"/>
              </a:ext>
            </a:extLst>
          </p:cNvPr>
          <p:cNvSpPr>
            <a:spLocks noGrp="1"/>
          </p:cNvSpPr>
          <p:nvPr/>
        </p:nvSpPr>
        <p:spPr>
          <a:xfrm>
            <a:off x="8858250" y="257175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Exit evidence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EC1772-534A-46E9-8BBF-E21D616264E0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F9A2C4-46F1-4DB0-9AF3-D6C37CCF985E}"/>
              </a:ext>
            </a:extLst>
          </p:cNvPr>
          <p:cNvSpPr>
            <a:spLocks noGrp="1"/>
          </p:cNvSpPr>
          <p:nvPr/>
        </p:nvSpPr>
        <p:spPr>
          <a:xfrm>
            <a:off x="762000" y="3019425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Discover + baseline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4E2F5F-908A-4818-9F68-2259356E4A23}"/>
              </a:ext>
            </a:extLst>
          </p:cNvPr>
          <p:cNvSpPr>
            <a:spLocks noGrp="1"/>
          </p:cNvSpPr>
          <p:nvPr/>
        </p:nvSpPr>
        <p:spPr>
          <a:xfrm>
            <a:off x="6000750" y="301942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Weeks 1–2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9028B-F7E5-4AAF-B1C8-AF76DBDAA2CF}"/>
              </a:ext>
            </a:extLst>
          </p:cNvPr>
          <p:cNvSpPr>
            <a:spLocks noGrp="1"/>
          </p:cNvSpPr>
          <p:nvPr/>
        </p:nvSpPr>
        <p:spPr>
          <a:xfrm>
            <a:off x="8858250" y="3019425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Audit + signed backlog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C165D9-4563-4307-8D72-D1DB93FDFDDD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10972800" cy="428625"/>
          </a:xfrm>
          <a:prstGeom prst="rect">
            <a:avLst/>
          </a:prstGeom>
          <a:solidFill>
            <a:srgbClr val="0B192B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46B9E8-6634-4349-9E84-61253DBCCACD}"/>
              </a:ext>
            </a:extLst>
          </p:cNvPr>
          <p:cNvSpPr>
            <a:spLocks noGrp="1"/>
          </p:cNvSpPr>
          <p:nvPr/>
        </p:nvSpPr>
        <p:spPr>
          <a:xfrm>
            <a:off x="762000" y="346710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Complete core workflows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A652E8-95FE-46F1-8310-F07D519ECFF2}"/>
              </a:ext>
            </a:extLst>
          </p:cNvPr>
          <p:cNvSpPr>
            <a:spLocks noGrp="1"/>
          </p:cNvSpPr>
          <p:nvPr/>
        </p:nvSpPr>
        <p:spPr>
          <a:xfrm>
            <a:off x="6000750" y="34671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Weeks 3–6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100E36-41ED-490A-8BD4-A6D2D8CE66FB}"/>
              </a:ext>
            </a:extLst>
          </p:cNvPr>
          <p:cNvSpPr>
            <a:spLocks noGrp="1"/>
          </p:cNvSpPr>
          <p:nvPr/>
        </p:nvSpPr>
        <p:spPr>
          <a:xfrm>
            <a:off x="8858250" y="346710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Integrated demo + test cases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F89B0D-5E44-40D5-9D7F-2553D3F86454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59489-EC49-4491-8663-2402B9B800E5}"/>
              </a:ext>
            </a:extLst>
          </p:cNvPr>
          <p:cNvSpPr>
            <a:spLocks noGrp="1"/>
          </p:cNvSpPr>
          <p:nvPr/>
        </p:nvSpPr>
        <p:spPr>
          <a:xfrm>
            <a:off x="762000" y="3914775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Integrate + harden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F996CC-DCFB-46B1-A565-A699090475F4}"/>
              </a:ext>
            </a:extLst>
          </p:cNvPr>
          <p:cNvSpPr>
            <a:spLocks noGrp="1"/>
          </p:cNvSpPr>
          <p:nvPr/>
        </p:nvSpPr>
        <p:spPr>
          <a:xfrm>
            <a:off x="6000750" y="391477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Weeks 7–9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5089A3-5B7E-4515-A946-C663F53E2030}"/>
              </a:ext>
            </a:extLst>
          </p:cNvPr>
          <p:cNvSpPr>
            <a:spLocks noGrp="1"/>
          </p:cNvSpPr>
          <p:nvPr/>
        </p:nvSpPr>
        <p:spPr>
          <a:xfrm>
            <a:off x="8858250" y="3914775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Permissions + recovery checks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426E7D-555D-4AB3-B8D7-28AE02855DEA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10972800" cy="428625"/>
          </a:xfrm>
          <a:prstGeom prst="rect">
            <a:avLst/>
          </a:prstGeom>
          <a:solidFill>
            <a:srgbClr val="0B192B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0224FD-E63C-4389-AC23-FEC64D70DB71}"/>
              </a:ext>
            </a:extLst>
          </p:cNvPr>
          <p:cNvSpPr>
            <a:spLocks noGrp="1"/>
          </p:cNvSpPr>
          <p:nvPr/>
        </p:nvSpPr>
        <p:spPr>
          <a:xfrm>
            <a:off x="762000" y="436245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Pilot acceptance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FE1A27-FE64-4993-AB22-7E62EAD917E9}"/>
              </a:ext>
            </a:extLst>
          </p:cNvPr>
          <p:cNvSpPr>
            <a:spLocks noGrp="1"/>
          </p:cNvSpPr>
          <p:nvPr/>
        </p:nvSpPr>
        <p:spPr>
          <a:xfrm>
            <a:off x="6000750" y="43624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Weeks 10–11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3FED85-952A-4A99-B925-64CC1A97FB07}"/>
              </a:ext>
            </a:extLst>
          </p:cNvPr>
          <p:cNvSpPr>
            <a:spLocks noGrp="1"/>
          </p:cNvSpPr>
          <p:nvPr/>
        </p:nvSpPr>
        <p:spPr>
          <a:xfrm>
            <a:off x="8858250" y="436245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Business-user sign-off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46F0F1-FB2F-48BE-B897-60A8FF05016F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F37A9C-0FD3-499A-A353-ED8E6AD5CFE0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Launch + handover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997460-D74C-4D10-9CEE-32214D97D4FF}"/>
              </a:ext>
            </a:extLst>
          </p:cNvPr>
          <p:cNvSpPr>
            <a:spLocks noGrp="1"/>
          </p:cNvSpPr>
          <p:nvPr/>
        </p:nvSpPr>
        <p:spPr>
          <a:xfrm>
            <a:off x="6000750" y="481012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Week 12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441961-D88E-4314-9661-A250E5EF401C}"/>
              </a:ext>
            </a:extLst>
          </p:cNvPr>
          <p:cNvSpPr>
            <a:spLocks noGrp="1"/>
          </p:cNvSpPr>
          <p:nvPr/>
        </p:nvSpPr>
        <p:spPr>
          <a:xfrm>
            <a:off x="8858250" y="4810125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Runbooks + release approval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FAE6C3-8BC7-4298-B770-17E2845ECA1E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Team: product owner + partner lead, frontend/backend engineers, QA and part-time DevOps.</a:t>
            </a:r>
          </a:p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840 planned hours across 12 weeks; allocation varies by phase.</a:t>
            </a:r>
          </a:p>
        </p:txBody>
      </p:sp>
    </p:spTree>
    <p:extLst>
      <p:ext uri="{BB962C8B-B14F-4D97-AF65-F5344CB8AC3E}">
        <p14:creationId xmlns:p14="http://schemas.microsoft.com/office/powerpoint/2010/main" val="2101089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C3C724EC-407B-4609-A29D-EFA511CB192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  /  PARTNERSHIP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319A6C-73D8-4B74-898E-E909075F7D15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Estimated implementation budget: INR 9.66 lakh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934BE6-077D-47E3-86B5-8F8DF0B1762D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Planning model: 840 hours × INR 1,000 blended hourly rate, plus 15% contingency.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CE9DF8-099E-4D2A-B78F-0645B3998F43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95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E9C641-A2FF-4702-B0B7-46026AD3076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Confidential discussion draft  |  08 October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828D2-0C6D-42A0-80C0-623C6E10E8B3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B54768-697A-4A8C-9D34-B6C979DD7DCA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10972800" cy="4286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D42AEA-EEA4-4C79-A32E-9AF3D5C05060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Workstream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0E50B3-16A6-4D91-8CF6-0E83E1B24C60}"/>
              </a:ext>
            </a:extLst>
          </p:cNvPr>
          <p:cNvSpPr>
            <a:spLocks noGrp="1"/>
          </p:cNvSpPr>
          <p:nvPr/>
        </p:nvSpPr>
        <p:spPr>
          <a:xfrm>
            <a:off x="6096000" y="2333625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Estimated hours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DABA6E-667E-4499-B469-BF11E7A9A5FE}"/>
              </a:ext>
            </a:extLst>
          </p:cNvPr>
          <p:cNvSpPr>
            <a:spLocks noGrp="1"/>
          </p:cNvSpPr>
          <p:nvPr/>
        </p:nvSpPr>
        <p:spPr>
          <a:xfrm>
            <a:off x="8286750" y="2333625"/>
            <a:ext cx="31623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Estimated cost (INR)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045436-190B-491F-9776-738D613EB6BE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FA4754-8C4D-4296-AD42-DE280EAD53B5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Discovery + technical audit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61F3E9-0A7B-45D2-A2FD-15D8A484A767}"/>
              </a:ext>
            </a:extLst>
          </p:cNvPr>
          <p:cNvSpPr>
            <a:spLocks noGrp="1"/>
          </p:cNvSpPr>
          <p:nvPr/>
        </p:nvSpPr>
        <p:spPr>
          <a:xfrm>
            <a:off x="6096000" y="278130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6E0D9B-4222-40D0-ADA4-B387041C18F1}"/>
              </a:ext>
            </a:extLst>
          </p:cNvPr>
          <p:cNvSpPr>
            <a:spLocks noGrp="1"/>
          </p:cNvSpPr>
          <p:nvPr/>
        </p:nvSpPr>
        <p:spPr>
          <a:xfrm>
            <a:off x="8286750" y="2781300"/>
            <a:ext cx="31623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60,000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815AF7-FCE3-48FF-BA3D-AE86CD896AAC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10972800" cy="428625"/>
          </a:xfrm>
          <a:prstGeom prst="rect">
            <a:avLst/>
          </a:prstGeom>
          <a:solidFill>
            <a:srgbClr val="0B192B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D7279D-4BB3-4868-9430-9660A7839225}"/>
              </a:ext>
            </a:extLst>
          </p:cNvPr>
          <p:cNvSpPr>
            <a:spLocks noGrp="1"/>
          </p:cNvSpPr>
          <p:nvPr/>
        </p:nvSpPr>
        <p:spPr>
          <a:xfrm>
            <a:off x="762000" y="3228975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UX and frontend completion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D8680F-FF33-4DB5-8D52-7BA82C6DCC64}"/>
              </a:ext>
            </a:extLst>
          </p:cNvPr>
          <p:cNvSpPr>
            <a:spLocks noGrp="1"/>
          </p:cNvSpPr>
          <p:nvPr/>
        </p:nvSpPr>
        <p:spPr>
          <a:xfrm>
            <a:off x="6096000" y="3228975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25D548-E17F-46E1-BF52-AC6768A5D46D}"/>
              </a:ext>
            </a:extLst>
          </p:cNvPr>
          <p:cNvSpPr>
            <a:spLocks noGrp="1"/>
          </p:cNvSpPr>
          <p:nvPr/>
        </p:nvSpPr>
        <p:spPr>
          <a:xfrm>
            <a:off x="8286750" y="3228975"/>
            <a:ext cx="31623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1,20,000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073A59-F276-4C77-BBBD-6ADAF8D95DE4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8CAF9E-E6D0-42BC-81A9-FCF430E72640}"/>
              </a:ext>
            </a:extLst>
          </p:cNvPr>
          <p:cNvSpPr>
            <a:spLocks noGrp="1"/>
          </p:cNvSpPr>
          <p:nvPr/>
        </p:nvSpPr>
        <p:spPr>
          <a:xfrm>
            <a:off x="762000" y="3676650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Backend + workflow integration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A082C1-FBDF-4ED9-A441-DA85B1A6CFFD}"/>
              </a:ext>
            </a:extLst>
          </p:cNvPr>
          <p:cNvSpPr>
            <a:spLocks noGrp="1"/>
          </p:cNvSpPr>
          <p:nvPr/>
        </p:nvSpPr>
        <p:spPr>
          <a:xfrm>
            <a:off x="6096000" y="367665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260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48617F-156A-4899-B7ED-3AC9DE98935C}"/>
              </a:ext>
            </a:extLst>
          </p:cNvPr>
          <p:cNvSpPr>
            <a:spLocks noGrp="1"/>
          </p:cNvSpPr>
          <p:nvPr/>
        </p:nvSpPr>
        <p:spPr>
          <a:xfrm>
            <a:off x="8286750" y="3676650"/>
            <a:ext cx="31623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2,60,000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9D9B7D-5F36-42E6-A646-7427FC9B4769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10972800" cy="428625"/>
          </a:xfrm>
          <a:prstGeom prst="rect">
            <a:avLst/>
          </a:prstGeom>
          <a:solidFill>
            <a:srgbClr val="0B192B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449523-295C-4474-B503-6CDC7CF0C0BA}"/>
              </a:ext>
            </a:extLst>
          </p:cNvPr>
          <p:cNvSpPr>
            <a:spLocks noGrp="1"/>
          </p:cNvSpPr>
          <p:nvPr/>
        </p:nvSpPr>
        <p:spPr>
          <a:xfrm>
            <a:off x="762000" y="4124325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Messaging + import reliability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895343-27C0-404D-8701-85ADFAE17174}"/>
              </a:ext>
            </a:extLst>
          </p:cNvPr>
          <p:cNvSpPr>
            <a:spLocks noGrp="1"/>
          </p:cNvSpPr>
          <p:nvPr/>
        </p:nvSpPr>
        <p:spPr>
          <a:xfrm>
            <a:off x="6096000" y="4124325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22324B-4860-4A2C-AC35-FD06E569B4C7}"/>
              </a:ext>
            </a:extLst>
          </p:cNvPr>
          <p:cNvSpPr>
            <a:spLocks noGrp="1"/>
          </p:cNvSpPr>
          <p:nvPr/>
        </p:nvSpPr>
        <p:spPr>
          <a:xfrm>
            <a:off x="8286750" y="4124325"/>
            <a:ext cx="31623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1,60,000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D0099D-563F-4791-A276-5B677137808F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60208B-D2B2-4F2F-BE33-97045252E5C6}"/>
              </a:ext>
            </a:extLst>
          </p:cNvPr>
          <p:cNvSpPr>
            <a:spLocks noGrp="1"/>
          </p:cNvSpPr>
          <p:nvPr/>
        </p:nvSpPr>
        <p:spPr>
          <a:xfrm>
            <a:off x="762000" y="4572000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QA + permission testing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F786EA5-3379-4BA6-9AB1-11543FBCF341}"/>
              </a:ext>
            </a:extLst>
          </p:cNvPr>
          <p:cNvSpPr>
            <a:spLocks noGrp="1"/>
          </p:cNvSpPr>
          <p:nvPr/>
        </p:nvSpPr>
        <p:spPr>
          <a:xfrm>
            <a:off x="6096000" y="457200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18FC83-69F9-487D-B60E-AB5E51620D73}"/>
              </a:ext>
            </a:extLst>
          </p:cNvPr>
          <p:cNvSpPr>
            <a:spLocks noGrp="1"/>
          </p:cNvSpPr>
          <p:nvPr/>
        </p:nvSpPr>
        <p:spPr>
          <a:xfrm>
            <a:off x="8286750" y="4572000"/>
            <a:ext cx="31623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1,60,000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ABF444-217F-4BE2-905B-D670AC2F0909}"/>
              </a:ext>
            </a:extLst>
          </p:cNvPr>
          <p:cNvSpPr>
            <a:spLocks noGrp="1"/>
          </p:cNvSpPr>
          <p:nvPr/>
        </p:nvSpPr>
        <p:spPr>
          <a:xfrm>
            <a:off x="609600" y="4924425"/>
            <a:ext cx="10972800" cy="428625"/>
          </a:xfrm>
          <a:prstGeom prst="rect">
            <a:avLst/>
          </a:prstGeom>
          <a:solidFill>
            <a:srgbClr val="0B192B"/>
          </a:solidFill>
          <a:ln w="0">
            <a:noFill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AB6A369-E630-45FB-AD14-5A81AC528BBA}"/>
              </a:ext>
            </a:extLst>
          </p:cNvPr>
          <p:cNvSpPr>
            <a:spLocks noGrp="1"/>
          </p:cNvSpPr>
          <p:nvPr/>
        </p:nvSpPr>
        <p:spPr>
          <a:xfrm>
            <a:off x="762000" y="5019675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Deployment + handover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8A37FF-2D7C-4CBC-A2CC-86F9A501BA33}"/>
              </a:ext>
            </a:extLst>
          </p:cNvPr>
          <p:cNvSpPr>
            <a:spLocks noGrp="1"/>
          </p:cNvSpPr>
          <p:nvPr/>
        </p:nvSpPr>
        <p:spPr>
          <a:xfrm>
            <a:off x="6096000" y="5019675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1AEF94B-F372-4010-BFE3-52AA82FCB437}"/>
              </a:ext>
            </a:extLst>
          </p:cNvPr>
          <p:cNvSpPr>
            <a:spLocks noGrp="1"/>
          </p:cNvSpPr>
          <p:nvPr/>
        </p:nvSpPr>
        <p:spPr>
          <a:xfrm>
            <a:off x="8286750" y="5019675"/>
            <a:ext cx="31623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80,000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B1D9718-B482-4FCC-88B1-A0C7F2A0E9A9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2586A5-98E7-4810-816B-DE44C12FA68C}"/>
              </a:ext>
            </a:extLst>
          </p:cNvPr>
          <p:cNvSpPr>
            <a:spLocks noGrp="1"/>
          </p:cNvSpPr>
          <p:nvPr/>
        </p:nvSpPr>
        <p:spPr>
          <a:xfrm>
            <a:off x="762000" y="5467350"/>
            <a:ext cx="5048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Subtotal / contingency / total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98CD06-0FAF-44DE-9A82-4C2C06C31073}"/>
              </a:ext>
            </a:extLst>
          </p:cNvPr>
          <p:cNvSpPr>
            <a:spLocks noGrp="1"/>
          </p:cNvSpPr>
          <p:nvPr/>
        </p:nvSpPr>
        <p:spPr>
          <a:xfrm>
            <a:off x="6096000" y="5467350"/>
            <a:ext cx="1905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840 / 15%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6010A8-6AA7-4363-8A10-26EAED81098D}"/>
              </a:ext>
            </a:extLst>
          </p:cNvPr>
          <p:cNvSpPr>
            <a:spLocks noGrp="1"/>
          </p:cNvSpPr>
          <p:nvPr/>
        </p:nvSpPr>
        <p:spPr>
          <a:xfrm>
            <a:off x="8286750" y="5467350"/>
            <a:ext cx="31623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8,40,000 / 1,26,000 / 9,66,000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106C03F-6B4C-412F-8B4A-C7512FDC9149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Illustrative estimate, not a vendor quote. INR amounts exclude applicable taxes and third-party usage fees.</a:t>
            </a:r>
          </a:p>
        </p:txBody>
      </p:sp>
    </p:spTree>
    <p:extLst>
      <p:ext uri="{BB962C8B-B14F-4D97-AF65-F5344CB8AC3E}">
        <p14:creationId xmlns:p14="http://schemas.microsoft.com/office/powerpoint/2010/main" val="1179123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032ACAE-BAB6-4057-A313-225A9B0BCD3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  /  PARTNERSHIP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A7629B-67C0-4DAD-8911-47EC33346593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Budget ongoing operations separately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B952E-A501-4950-BF7D-031D563E5917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Illustrative pilot allowance; actual provider quotations and service levels must be confirmed.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CD9681-D12E-46B3-960D-E5ACE8496698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95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685D13-93C8-443C-B13E-56021732B08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Confidential discussion draft  |  08 October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41B20-D257-4AC1-8EAE-999E5A462A9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9D926C-E25C-4E44-961F-F46116869D08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972800" cy="4286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92F8B4-3DC8-4908-A207-FB9272422062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Monthly cost category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110BA4-4304-4E9F-A9C5-49C4F322290C}"/>
              </a:ext>
            </a:extLst>
          </p:cNvPr>
          <p:cNvSpPr>
            <a:spLocks noGrp="1"/>
          </p:cNvSpPr>
          <p:nvPr/>
        </p:nvSpPr>
        <p:spPr>
          <a:xfrm>
            <a:off x="6000750" y="25717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Allowance (INR)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A19367-F1AA-41FB-9487-3652D3782AEF}"/>
              </a:ext>
            </a:extLst>
          </p:cNvPr>
          <p:cNvSpPr>
            <a:spLocks noGrp="1"/>
          </p:cNvSpPr>
          <p:nvPr/>
        </p:nvSpPr>
        <p:spPr>
          <a:xfrm>
            <a:off x="8858250" y="257175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Budget treatment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8BEF57-5508-4A2E-AFDD-26F7D83E23F3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6D1ECA-920F-42D1-AD45-D82AFEA8AD9B}"/>
              </a:ext>
            </a:extLst>
          </p:cNvPr>
          <p:cNvSpPr>
            <a:spLocks noGrp="1"/>
          </p:cNvSpPr>
          <p:nvPr/>
        </p:nvSpPr>
        <p:spPr>
          <a:xfrm>
            <a:off x="762000" y="3019425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App + database + Redis hosting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F18DBF-3522-43FB-A387-F6D3966659DC}"/>
              </a:ext>
            </a:extLst>
          </p:cNvPr>
          <p:cNvSpPr>
            <a:spLocks noGrp="1"/>
          </p:cNvSpPr>
          <p:nvPr/>
        </p:nvSpPr>
        <p:spPr>
          <a:xfrm>
            <a:off x="6000750" y="301942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12,000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4D2037-1B59-491A-83D3-C6D0A1668786}"/>
              </a:ext>
            </a:extLst>
          </p:cNvPr>
          <p:cNvSpPr>
            <a:spLocks noGrp="1"/>
          </p:cNvSpPr>
          <p:nvPr/>
        </p:nvSpPr>
        <p:spPr>
          <a:xfrm>
            <a:off x="8858250" y="3019425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Planning allowance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1E1333-C32E-44C0-9556-FA2D16CA74AE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10972800" cy="428625"/>
          </a:xfrm>
          <a:prstGeom prst="rect">
            <a:avLst/>
          </a:prstGeom>
          <a:solidFill>
            <a:srgbClr val="0B192B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471436-E3D2-452E-A7EF-9E0759FD413B}"/>
              </a:ext>
            </a:extLst>
          </p:cNvPr>
          <p:cNvSpPr>
            <a:spLocks noGrp="1"/>
          </p:cNvSpPr>
          <p:nvPr/>
        </p:nvSpPr>
        <p:spPr>
          <a:xfrm>
            <a:off x="762000" y="346710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Backups + storage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1CCB3C-7C83-4DC0-8064-DF7A33EFC44E}"/>
              </a:ext>
            </a:extLst>
          </p:cNvPr>
          <p:cNvSpPr>
            <a:spLocks noGrp="1"/>
          </p:cNvSpPr>
          <p:nvPr/>
        </p:nvSpPr>
        <p:spPr>
          <a:xfrm>
            <a:off x="6000750" y="34671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4,000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E0D5FA-2BB8-48FC-9439-3E2181DAEF7B}"/>
              </a:ext>
            </a:extLst>
          </p:cNvPr>
          <p:cNvSpPr>
            <a:spLocks noGrp="1"/>
          </p:cNvSpPr>
          <p:nvPr/>
        </p:nvSpPr>
        <p:spPr>
          <a:xfrm>
            <a:off x="8858250" y="346710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Planning allowance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81DFDA-8CF0-4089-946E-6302F3EF3E1A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42336E-B590-4D03-9CA1-CE37897E3CDC}"/>
              </a:ext>
            </a:extLst>
          </p:cNvPr>
          <p:cNvSpPr>
            <a:spLocks noGrp="1"/>
          </p:cNvSpPr>
          <p:nvPr/>
        </p:nvSpPr>
        <p:spPr>
          <a:xfrm>
            <a:off x="762000" y="3914775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Monitoring + operational tooling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2F778E-2516-4DB7-8D72-5091E2A02355}"/>
              </a:ext>
            </a:extLst>
          </p:cNvPr>
          <p:cNvSpPr>
            <a:spLocks noGrp="1"/>
          </p:cNvSpPr>
          <p:nvPr/>
        </p:nvSpPr>
        <p:spPr>
          <a:xfrm>
            <a:off x="6000750" y="391477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4,000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2CD646-10FA-46EC-9FA7-0EDF2F481676}"/>
              </a:ext>
            </a:extLst>
          </p:cNvPr>
          <p:cNvSpPr>
            <a:spLocks noGrp="1"/>
          </p:cNvSpPr>
          <p:nvPr/>
        </p:nvSpPr>
        <p:spPr>
          <a:xfrm>
            <a:off x="8858250" y="3914775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Planning allowance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D2BFB9-97F1-491E-BAC6-59DF28E040D4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10972800" cy="428625"/>
          </a:xfrm>
          <a:prstGeom prst="rect">
            <a:avLst/>
          </a:prstGeom>
          <a:solidFill>
            <a:srgbClr val="0B192B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E36BAA-A38E-4725-A2A1-28ACCD6E5053}"/>
              </a:ext>
            </a:extLst>
          </p:cNvPr>
          <p:cNvSpPr>
            <a:spLocks noGrp="1"/>
          </p:cNvSpPr>
          <p:nvPr/>
        </p:nvSpPr>
        <p:spPr>
          <a:xfrm>
            <a:off x="762000" y="436245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Maintenance support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778FF8-7EF0-47A0-A8E7-C3336D8B74A0}"/>
              </a:ext>
            </a:extLst>
          </p:cNvPr>
          <p:cNvSpPr>
            <a:spLocks noGrp="1"/>
          </p:cNvSpPr>
          <p:nvPr/>
        </p:nvSpPr>
        <p:spPr>
          <a:xfrm>
            <a:off x="6000750" y="43624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30,000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3B2562-CAAC-438D-A5DA-117A66F7F6D1}"/>
              </a:ext>
            </a:extLst>
          </p:cNvPr>
          <p:cNvSpPr>
            <a:spLocks noGrp="1"/>
          </p:cNvSpPr>
          <p:nvPr/>
        </p:nvSpPr>
        <p:spPr>
          <a:xfrm>
            <a:off x="8858250" y="436245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30 hours × INR 1,000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DDE5DE-02AE-4535-8AD2-56ABECCA75F3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02AEB5-9343-4A2D-BE0B-352A1E7DA427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Total monthly allowance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1F4D98-0C2E-4128-AB6D-F8195A5499D0}"/>
              </a:ext>
            </a:extLst>
          </p:cNvPr>
          <p:cNvSpPr>
            <a:spLocks noGrp="1"/>
          </p:cNvSpPr>
          <p:nvPr/>
        </p:nvSpPr>
        <p:spPr>
          <a:xfrm>
            <a:off x="6000750" y="481012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50,000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5617B5B-F13A-416E-977F-4CD4C330EAD3}"/>
              </a:ext>
            </a:extLst>
          </p:cNvPr>
          <p:cNvSpPr>
            <a:spLocks noGrp="1"/>
          </p:cNvSpPr>
          <p:nvPr/>
        </p:nvSpPr>
        <p:spPr>
          <a:xfrm>
            <a:off x="8858250" y="4810125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Excludes message usage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79E57F-BD43-4A1B-AAD0-9C1A9C91EFFF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Year-one planning envelope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AB1F5A9-B2A4-432D-B5FD-8957DCB26420}"/>
              </a:ext>
            </a:extLst>
          </p:cNvPr>
          <p:cNvSpPr>
            <a:spLocks noGrp="1"/>
          </p:cNvSpPr>
          <p:nvPr/>
        </p:nvSpPr>
        <p:spPr>
          <a:xfrm>
            <a:off x="7239000" y="5353050"/>
            <a:ext cx="428625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00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INR 15.66 lakh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319F63-56D4-42A1-9058-A0F5EC38A3F7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INR 9.66 lakh implementation + 12 × INR 50,000 operations. Taxes, messaging usage and change requests are additional.</a:t>
            </a:r>
          </a:p>
        </p:txBody>
      </p:sp>
    </p:spTree>
    <p:extLst>
      <p:ext uri="{BB962C8B-B14F-4D97-AF65-F5344CB8AC3E}">
        <p14:creationId xmlns:p14="http://schemas.microsoft.com/office/powerpoint/2010/main" val="739350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9596BEA-9D60-4C1B-8F01-A0F90C60F9F1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  /  PARTNERSHIP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A1792B-897A-4F98-8ED4-A0010C1F59CF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Link payments to accepted deliverables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D17D8-93A8-4518-B2A3-943E0F11801B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Illustrative milestones applied to the INR 8.40 lakh base delivery fee.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48DD92-906C-4F16-A100-3A64FC9A02FE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95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35D9D0-1E4A-44D5-8191-02F7C9634885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Confidential discussion draft  |  08 October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B3BCD3-D5EC-4A46-91D6-ED0445CFB20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2D54F-9FCB-49B8-8072-F77DA5940B15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10972800" cy="4286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DC6DEE-FA64-40FF-826E-F3DA7F58160F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Payment milestone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C431C6-8FEE-4351-A9D7-32026AEB7AFF}"/>
              </a:ext>
            </a:extLst>
          </p:cNvPr>
          <p:cNvSpPr>
            <a:spLocks noGrp="1"/>
          </p:cNvSpPr>
          <p:nvPr/>
        </p:nvSpPr>
        <p:spPr>
          <a:xfrm>
            <a:off x="6000750" y="25717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Share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742D4C-7B13-464C-B9F6-506B9924D6A1}"/>
              </a:ext>
            </a:extLst>
          </p:cNvPr>
          <p:cNvSpPr>
            <a:spLocks noGrp="1"/>
          </p:cNvSpPr>
          <p:nvPr/>
        </p:nvSpPr>
        <p:spPr>
          <a:xfrm>
            <a:off x="8858250" y="257175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Amount (INR)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BAFADB-2B7F-4A93-AC26-6BA2D53B78CB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E31F2D-40F1-4FE1-9CAF-F237BE34C6D4}"/>
              </a:ext>
            </a:extLst>
          </p:cNvPr>
          <p:cNvSpPr>
            <a:spLocks noGrp="1"/>
          </p:cNvSpPr>
          <p:nvPr/>
        </p:nvSpPr>
        <p:spPr>
          <a:xfrm>
            <a:off x="762000" y="3019425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Discovery and backlog accepted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71408A-ECA5-4CE2-9A6B-466198AC000A}"/>
              </a:ext>
            </a:extLst>
          </p:cNvPr>
          <p:cNvSpPr>
            <a:spLocks noGrp="1"/>
          </p:cNvSpPr>
          <p:nvPr/>
        </p:nvSpPr>
        <p:spPr>
          <a:xfrm>
            <a:off x="6000750" y="301942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CBB6F5-B3F9-4C2C-AC32-235F3635B21D}"/>
              </a:ext>
            </a:extLst>
          </p:cNvPr>
          <p:cNvSpPr>
            <a:spLocks noGrp="1"/>
          </p:cNvSpPr>
          <p:nvPr/>
        </p:nvSpPr>
        <p:spPr>
          <a:xfrm>
            <a:off x="8858250" y="3019425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1,68,000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41AD1C-3C9B-4778-B0B6-BE48F93D0E03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10972800" cy="428625"/>
          </a:xfrm>
          <a:prstGeom prst="rect">
            <a:avLst/>
          </a:prstGeom>
          <a:solidFill>
            <a:srgbClr val="0B192B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BBCF49-F9D5-4413-B678-5CFE308A63DD}"/>
              </a:ext>
            </a:extLst>
          </p:cNvPr>
          <p:cNvSpPr>
            <a:spLocks noGrp="1"/>
          </p:cNvSpPr>
          <p:nvPr/>
        </p:nvSpPr>
        <p:spPr>
          <a:xfrm>
            <a:off x="762000" y="346710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Core workflows accepted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B9598C-4582-4507-B45D-89F9FD5419A3}"/>
              </a:ext>
            </a:extLst>
          </p:cNvPr>
          <p:cNvSpPr>
            <a:spLocks noGrp="1"/>
          </p:cNvSpPr>
          <p:nvPr/>
        </p:nvSpPr>
        <p:spPr>
          <a:xfrm>
            <a:off x="6000750" y="34671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CA11CD-09AB-49C2-B3F2-879006192206}"/>
              </a:ext>
            </a:extLst>
          </p:cNvPr>
          <p:cNvSpPr>
            <a:spLocks noGrp="1"/>
          </p:cNvSpPr>
          <p:nvPr/>
        </p:nvSpPr>
        <p:spPr>
          <a:xfrm>
            <a:off x="8858250" y="346710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2,52,000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72E653-FB3D-410A-8C08-B8219995E9D2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C57949-BD5C-41A7-AB57-3B1F996C02D2}"/>
              </a:ext>
            </a:extLst>
          </p:cNvPr>
          <p:cNvSpPr>
            <a:spLocks noGrp="1"/>
          </p:cNvSpPr>
          <p:nvPr/>
        </p:nvSpPr>
        <p:spPr>
          <a:xfrm>
            <a:off x="762000" y="3914775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Integration and QA accepted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C35BB3-8E8D-448C-8975-EC0CC450C8AD}"/>
              </a:ext>
            </a:extLst>
          </p:cNvPr>
          <p:cNvSpPr>
            <a:spLocks noGrp="1"/>
          </p:cNvSpPr>
          <p:nvPr/>
        </p:nvSpPr>
        <p:spPr>
          <a:xfrm>
            <a:off x="6000750" y="391477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F8C5C1-760D-4892-99F4-3F9E4121BEC6}"/>
              </a:ext>
            </a:extLst>
          </p:cNvPr>
          <p:cNvSpPr>
            <a:spLocks noGrp="1"/>
          </p:cNvSpPr>
          <p:nvPr/>
        </p:nvSpPr>
        <p:spPr>
          <a:xfrm>
            <a:off x="8858250" y="3914775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2,52,000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9D738A-4860-4CB9-A72D-C89F27C1CC2D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10972800" cy="428625"/>
          </a:xfrm>
          <a:prstGeom prst="rect">
            <a:avLst/>
          </a:prstGeom>
          <a:solidFill>
            <a:srgbClr val="0B192B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4AF09E-CF21-45F8-A56F-5ACEC6D1821F}"/>
              </a:ext>
            </a:extLst>
          </p:cNvPr>
          <p:cNvSpPr>
            <a:spLocks noGrp="1"/>
          </p:cNvSpPr>
          <p:nvPr/>
        </p:nvSpPr>
        <p:spPr>
          <a:xfrm>
            <a:off x="762000" y="436245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Pilot handover accepted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FD72C2-9460-4F41-B1A2-A73C955AFBCB}"/>
              </a:ext>
            </a:extLst>
          </p:cNvPr>
          <p:cNvSpPr>
            <a:spLocks noGrp="1"/>
          </p:cNvSpPr>
          <p:nvPr/>
        </p:nvSpPr>
        <p:spPr>
          <a:xfrm>
            <a:off x="6000750" y="43624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B1E27B-C46B-4385-A63C-C55882D59F0B}"/>
              </a:ext>
            </a:extLst>
          </p:cNvPr>
          <p:cNvSpPr>
            <a:spLocks noGrp="1"/>
          </p:cNvSpPr>
          <p:nvPr/>
        </p:nvSpPr>
        <p:spPr>
          <a:xfrm>
            <a:off x="8858250" y="436245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1,68,000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56E41CD-CE24-4A46-AF96-D80992863BE8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D9F2CA1-8E2C-41A9-90D1-25D055607AAB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Total base delivery fee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786D60C-5104-490E-9710-9BA7CD25F8F4}"/>
              </a:ext>
            </a:extLst>
          </p:cNvPr>
          <p:cNvSpPr>
            <a:spLocks noGrp="1"/>
          </p:cNvSpPr>
          <p:nvPr/>
        </p:nvSpPr>
        <p:spPr>
          <a:xfrm>
            <a:off x="6000750" y="4810125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1FEB9A-6957-49DC-BB40-95D69B599D86}"/>
              </a:ext>
            </a:extLst>
          </p:cNvPr>
          <p:cNvSpPr>
            <a:spLocks noGrp="1"/>
          </p:cNvSpPr>
          <p:nvPr/>
        </p:nvSpPr>
        <p:spPr>
          <a:xfrm>
            <a:off x="8858250" y="4810125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8,40,000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8B8C18-4C96-45E3-B3E2-02E299ECC83A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Contingency reserve: INR 1.26 lakh; released only for approved additional effort.</a:t>
            </a:r>
          </a:p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Define acceptance windows, defect warranty, support hours and change pricing in the contract.</a:t>
            </a:r>
          </a:p>
        </p:txBody>
      </p:sp>
    </p:spTree>
    <p:extLst>
      <p:ext uri="{BB962C8B-B14F-4D97-AF65-F5344CB8AC3E}">
        <p14:creationId xmlns:p14="http://schemas.microsoft.com/office/powerpoint/2010/main" val="1195819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973DCC4-6FE5-41A1-9F0B-2EA9D141395C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  /  PARTNERSHIP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74BD32-EACC-4F2F-B8D9-5D630EB425BA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Resolve the launch risks during discovery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8AADAF-0E0A-473D-8AFB-ABDB4D6EAC72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Known documentation gaps inform the proposed engineering backlog.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969596-B208-4938-BB20-B7F7D0180341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95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D064E9-777E-418F-8CC3-1A6C21D15EB5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Confidential discussion draft  |  08 October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6B6FFA-5739-4A93-A354-076556631B3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FB9B0E-C7B0-4AE3-9E9E-CA7AF4F72F93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10972800" cy="4286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4C2493-8A3A-4698-A13A-6CFD7ACC244F}"/>
              </a:ext>
            </a:extLst>
          </p:cNvPr>
          <p:cNvSpPr>
            <a:spLocks noGrp="1"/>
          </p:cNvSpPr>
          <p:nvPr/>
        </p:nvSpPr>
        <p:spPr>
          <a:xfrm>
            <a:off x="762000" y="2428875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Risk / dependency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2D6FFD-7009-465B-8417-BCF4532DFA24}"/>
              </a:ext>
            </a:extLst>
          </p:cNvPr>
          <p:cNvSpPr>
            <a:spLocks noGrp="1"/>
          </p:cNvSpPr>
          <p:nvPr/>
        </p:nvSpPr>
        <p:spPr>
          <a:xfrm>
            <a:off x="5143500" y="2428875"/>
            <a:ext cx="3286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Delivery response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015808-4D09-42EE-8ED9-00E2D0ACDF64}"/>
              </a:ext>
            </a:extLst>
          </p:cNvPr>
          <p:cNvSpPr>
            <a:spLocks noGrp="1"/>
          </p:cNvSpPr>
          <p:nvPr/>
        </p:nvSpPr>
        <p:spPr>
          <a:xfrm>
            <a:off x="8715375" y="2428875"/>
            <a:ext cx="27336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Acceptance evidence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A9A78F-662F-470F-B0FE-C91800CA92CC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0D2F62-99D7-4814-8B34-F70F17500FC6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Build checks lack endpoint coverage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AA6A88-08D5-48BB-9B18-840D6C934165}"/>
              </a:ext>
            </a:extLst>
          </p:cNvPr>
          <p:cNvSpPr>
            <a:spLocks noGrp="1"/>
          </p:cNvSpPr>
          <p:nvPr/>
        </p:nvSpPr>
        <p:spPr>
          <a:xfrm>
            <a:off x="5143500" y="2876550"/>
            <a:ext cx="3286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Add workflow integration tests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B0D661-D0B2-438A-9585-1C22A5B4FF2E}"/>
              </a:ext>
            </a:extLst>
          </p:cNvPr>
          <p:cNvSpPr>
            <a:spLocks noGrp="1"/>
          </p:cNvSpPr>
          <p:nvPr/>
        </p:nvSpPr>
        <p:spPr>
          <a:xfrm>
            <a:off x="8715375" y="2876550"/>
            <a:ext cx="27336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Critical journeys pass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43DC4F-3199-40F8-9B88-8577FF639D13}"/>
              </a:ext>
            </a:extLst>
          </p:cNvPr>
          <p:cNvSpPr>
            <a:spLocks noGrp="1"/>
          </p:cNvSpPr>
          <p:nvPr/>
        </p:nvSpPr>
        <p:spPr>
          <a:xfrm>
            <a:off x="609600" y="3228975"/>
            <a:ext cx="10972800" cy="428625"/>
          </a:xfrm>
          <a:prstGeom prst="rect">
            <a:avLst/>
          </a:prstGeom>
          <a:solidFill>
            <a:srgbClr val="0B192B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A49AA9-31DC-433B-81B3-4B451B7D1B5E}"/>
              </a:ext>
            </a:extLst>
          </p:cNvPr>
          <p:cNvSpPr>
            <a:spLocks noGrp="1"/>
          </p:cNvSpPr>
          <p:nvPr/>
        </p:nvSpPr>
        <p:spPr>
          <a:xfrm>
            <a:off x="762000" y="3324225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Schema migration readiness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4632E0-018C-40A4-80AE-C911627E5E47}"/>
              </a:ext>
            </a:extLst>
          </p:cNvPr>
          <p:cNvSpPr>
            <a:spLocks noGrp="1"/>
          </p:cNvSpPr>
          <p:nvPr/>
        </p:nvSpPr>
        <p:spPr>
          <a:xfrm>
            <a:off x="5143500" y="3324225"/>
            <a:ext cx="3286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Review Alembic + upgrade plan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BE2816-3313-415B-A4D6-F6C12660E032}"/>
              </a:ext>
            </a:extLst>
          </p:cNvPr>
          <p:cNvSpPr>
            <a:spLocks noGrp="1"/>
          </p:cNvSpPr>
          <p:nvPr/>
        </p:nvSpPr>
        <p:spPr>
          <a:xfrm>
            <a:off x="8715375" y="3324225"/>
            <a:ext cx="27336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Migration rehearsal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F75DF4-F072-4395-B9BB-FA46230D675F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FF3E22-C3D8-42BC-8165-5F9A4D1167EE}"/>
              </a:ext>
            </a:extLst>
          </p:cNvPr>
          <p:cNvSpPr>
            <a:spLocks noGrp="1"/>
          </p:cNvSpPr>
          <p:nvPr/>
        </p:nvSpPr>
        <p:spPr>
          <a:xfrm>
            <a:off x="762000" y="377190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Automatic rollback not configured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3BFD77-A6A8-49E2-9DE8-11AB2998A6ED}"/>
              </a:ext>
            </a:extLst>
          </p:cNvPr>
          <p:cNvSpPr>
            <a:spLocks noGrp="1"/>
          </p:cNvSpPr>
          <p:nvPr/>
        </p:nvSpPr>
        <p:spPr>
          <a:xfrm>
            <a:off x="5143500" y="3771900"/>
            <a:ext cx="3286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Agree recovery procedure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D75759-9EED-4914-8054-D9AE4EAEC75E}"/>
              </a:ext>
            </a:extLst>
          </p:cNvPr>
          <p:cNvSpPr>
            <a:spLocks noGrp="1"/>
          </p:cNvSpPr>
          <p:nvPr/>
        </p:nvSpPr>
        <p:spPr>
          <a:xfrm>
            <a:off x="8715375" y="3771900"/>
            <a:ext cx="27336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Rollback rehearsal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C8143E-55E5-48EB-8F1E-47AF9C32D653}"/>
              </a:ext>
            </a:extLst>
          </p:cNvPr>
          <p:cNvSpPr>
            <a:spLocks noGrp="1"/>
          </p:cNvSpPr>
          <p:nvPr/>
        </p:nvSpPr>
        <p:spPr>
          <a:xfrm>
            <a:off x="609600" y="4124325"/>
            <a:ext cx="10972800" cy="428625"/>
          </a:xfrm>
          <a:prstGeom prst="rect">
            <a:avLst/>
          </a:prstGeom>
          <a:solidFill>
            <a:srgbClr val="0B192B"/>
          </a:solidFill>
          <a:ln w="0">
            <a:noFill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78F6D7-31C4-4BCE-B9C7-BDEE85884D8D}"/>
              </a:ext>
            </a:extLst>
          </p:cNvPr>
          <p:cNvSpPr>
            <a:spLocks noGrp="1"/>
          </p:cNvSpPr>
          <p:nvPr/>
        </p:nvSpPr>
        <p:spPr>
          <a:xfrm>
            <a:off x="762000" y="4219575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Messaging provider dependencies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61D8F7-F89C-46FD-8DBE-E67D0670582D}"/>
              </a:ext>
            </a:extLst>
          </p:cNvPr>
          <p:cNvSpPr>
            <a:spLocks noGrp="1"/>
          </p:cNvSpPr>
          <p:nvPr/>
        </p:nvSpPr>
        <p:spPr>
          <a:xfrm>
            <a:off x="5143500" y="4219575"/>
            <a:ext cx="3286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Validate account + integration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C52E7A-6704-4E97-8ACF-00BA06BAC90C}"/>
              </a:ext>
            </a:extLst>
          </p:cNvPr>
          <p:cNvSpPr>
            <a:spLocks noGrp="1"/>
          </p:cNvSpPr>
          <p:nvPr/>
        </p:nvSpPr>
        <p:spPr>
          <a:xfrm>
            <a:off x="8715375" y="4219575"/>
            <a:ext cx="27336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Agreed send/status test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C32CCE-3A64-4DCE-9F6B-C39B27FC1497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4286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78B48F-A867-4846-B44B-3D8B0EEA49BC}"/>
              </a:ext>
            </a:extLst>
          </p:cNvPr>
          <p:cNvSpPr>
            <a:spLocks noGrp="1"/>
          </p:cNvSpPr>
          <p:nvPr/>
        </p:nvSpPr>
        <p:spPr>
          <a:xfrm>
            <a:off x="762000" y="4667250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Customer information handling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38A164-DD6B-45F7-9A45-64F07BE284EA}"/>
              </a:ext>
            </a:extLst>
          </p:cNvPr>
          <p:cNvSpPr>
            <a:spLocks noGrp="1"/>
          </p:cNvSpPr>
          <p:nvPr/>
        </p:nvSpPr>
        <p:spPr>
          <a:xfrm>
            <a:off x="5143500" y="4667250"/>
            <a:ext cx="3286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Review access + retention needs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94D2DB-A945-47FC-9EC9-CF6D86F86D41}"/>
              </a:ext>
            </a:extLst>
          </p:cNvPr>
          <p:cNvSpPr>
            <a:spLocks noGrp="1"/>
          </p:cNvSpPr>
          <p:nvPr/>
        </p:nvSpPr>
        <p:spPr>
          <a:xfrm>
            <a:off x="8715375" y="4667250"/>
            <a:ext cx="27336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Permission + deletion checks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F68722-1A0D-449B-ABF0-9914B2F54B21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10972800" cy="428625"/>
          </a:xfrm>
          <a:prstGeom prst="rect">
            <a:avLst/>
          </a:prstGeom>
          <a:solidFill>
            <a:srgbClr val="0B192B"/>
          </a:solidFill>
          <a:ln w="0">
            <a:noFill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CA21A0-8A6F-486A-AAA3-BF6A3B838F77}"/>
              </a:ext>
            </a:extLst>
          </p:cNvPr>
          <p:cNvSpPr>
            <a:spLocks noGrp="1"/>
          </p:cNvSpPr>
          <p:nvPr/>
        </p:nvSpPr>
        <p:spPr>
          <a:xfrm>
            <a:off x="762000" y="5114925"/>
            <a:ext cx="40957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Unknown volume and performance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A59E10-9CD3-4908-BB83-0FEE1214AEC6}"/>
              </a:ext>
            </a:extLst>
          </p:cNvPr>
          <p:cNvSpPr>
            <a:spLocks noGrp="1"/>
          </p:cNvSpPr>
          <p:nvPr/>
        </p:nvSpPr>
        <p:spPr>
          <a:xfrm>
            <a:off x="5143500" y="5114925"/>
            <a:ext cx="328612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Set workload and load targets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615A9A-C28C-4E21-88E9-7AFE973A0714}"/>
              </a:ext>
            </a:extLst>
          </p:cNvPr>
          <p:cNvSpPr>
            <a:spLocks noGrp="1"/>
          </p:cNvSpPr>
          <p:nvPr/>
        </p:nvSpPr>
        <p:spPr>
          <a:xfrm>
            <a:off x="8715375" y="5114925"/>
            <a:ext cx="2733675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Agreed performance report</a:t>
            </a:r>
          </a:p>
        </p:txBody>
      </p:sp>
    </p:spTree>
    <p:extLst>
      <p:ext uri="{BB962C8B-B14F-4D97-AF65-F5344CB8AC3E}">
        <p14:creationId xmlns:p14="http://schemas.microsoft.com/office/powerpoint/2010/main" val="1546515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C695035-5869-45C2-A7B0-36002F9084D2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  /  PARTNERSHIP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E76F72-EA9E-4EEA-BBFF-8EAC3847FDA0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Create a commercial model after proving the pilot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61599A-0C69-4888-8361-1263FBA5AA75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Commercial options are proposals; pricing, demand and unit economics have not been validated.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6110FD-0C8F-452E-9E95-A97E8452A896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95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FD6FE8-6FEC-40C1-8A13-76B027F41F1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Confidential discussion draft  |  08 October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6B2844-F6B1-451F-964F-507CE15607E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CBF5C0-DDF5-487B-94AC-FDC511617EB7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3505200" cy="2952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FB560-F65D-4F8C-B9D7-4BFA65981DDA}"/>
              </a:ext>
            </a:extLst>
          </p:cNvPr>
          <p:cNvSpPr>
            <a:spLocks noGrp="1"/>
          </p:cNvSpPr>
          <p:nvPr/>
        </p:nvSpPr>
        <p:spPr>
          <a:xfrm>
            <a:off x="838200" y="27622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Initial offer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8E8AEF-3B8E-4E8C-B6EA-980A2BA717C3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3048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Paid pilot implementation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Time-bound acceptance criteria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Monthly support agreement</a:t>
            </a:r>
          </a:p>
          <a:p>
            <a:endParaRPr sz="1650" b="0">
              <a:solidFill>
                <a:srgbClr val="F3F6FA"/>
              </a:solidFill>
              <a:latin typeface="Arial"/>
              <a:ea typeface="Arial"/>
              <a:cs typeface="Arial"/>
            </a:endParaRP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Use the pilot to establish cost to serve and customer value.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72B6F6-6633-48FF-96D6-5A3E6CA6F3AD}"/>
              </a:ext>
            </a:extLst>
          </p:cNvPr>
          <p:cNvSpPr>
            <a:spLocks noGrp="1"/>
          </p:cNvSpPr>
          <p:nvPr/>
        </p:nvSpPr>
        <p:spPr>
          <a:xfrm>
            <a:off x="4343400" y="2524125"/>
            <a:ext cx="3505200" cy="2952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25DA87-E5DF-464C-8922-8C7E0F9B7DA1}"/>
              </a:ext>
            </a:extLst>
          </p:cNvPr>
          <p:cNvSpPr>
            <a:spLocks noGrp="1"/>
          </p:cNvSpPr>
          <p:nvPr/>
        </p:nvSpPr>
        <p:spPr>
          <a:xfrm>
            <a:off x="4572000" y="27622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Expansion paths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9BA0EC-9361-4495-9055-D6FBC2CC11FD}"/>
              </a:ext>
            </a:extLst>
          </p:cNvPr>
          <p:cNvSpPr>
            <a:spLocks noGrp="1"/>
          </p:cNvSpPr>
          <p:nvPr/>
        </p:nvSpPr>
        <p:spPr>
          <a:xfrm>
            <a:off x="4572000" y="3524250"/>
            <a:ext cx="3048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Repeat deployments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Industry-specific workflows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Optional connector projects</a:t>
            </a:r>
          </a:p>
          <a:p>
            <a:endParaRPr sz="1650" b="0">
              <a:solidFill>
                <a:srgbClr val="F3F6FA"/>
              </a:solidFill>
              <a:latin typeface="Arial"/>
              <a:ea typeface="Arial"/>
              <a:cs typeface="Arial"/>
            </a:endParaRP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Subscription or white-label licensing requires further product and tenant work.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2D5B09-0D9B-45E9-B910-0B05F0CF3F02}"/>
              </a:ext>
            </a:extLst>
          </p:cNvPr>
          <p:cNvSpPr>
            <a:spLocks noGrp="1"/>
          </p:cNvSpPr>
          <p:nvPr/>
        </p:nvSpPr>
        <p:spPr>
          <a:xfrm>
            <a:off x="8077200" y="2524125"/>
            <a:ext cx="3505200" cy="2952750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906A9C-2B7F-4FAA-B016-A5836BD8BB3D}"/>
              </a:ext>
            </a:extLst>
          </p:cNvPr>
          <p:cNvSpPr>
            <a:spLocks noGrp="1"/>
          </p:cNvSpPr>
          <p:nvPr/>
        </p:nvSpPr>
        <p:spPr>
          <a:xfrm>
            <a:off x="8305800" y="27622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Joint decisions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33A7A0-19B4-4AC5-9B44-668061F4F06A}"/>
              </a:ext>
            </a:extLst>
          </p:cNvPr>
          <p:cNvSpPr>
            <a:spLocks noGrp="1"/>
          </p:cNvSpPr>
          <p:nvPr/>
        </p:nvSpPr>
        <p:spPr>
          <a:xfrm>
            <a:off x="8305800" y="3524250"/>
            <a:ext cx="3048000" cy="16668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Customer contract ownership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Sales and support ownership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Enhancement ownership</a:t>
            </a: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Fee and renewal split</a:t>
            </a:r>
          </a:p>
          <a:p>
            <a:endParaRPr sz="1650" b="0">
              <a:solidFill>
                <a:srgbClr val="F3F6FA"/>
              </a:solidFill>
              <a:latin typeface="Arial"/>
              <a:ea typeface="Arial"/>
              <a:cs typeface="Arial"/>
            </a:endParaRPr>
          </a:p>
          <a:p>
            <a:pPr>
              <a:defRPr sz="1650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Agree terms after discovery.</a:t>
            </a:r>
          </a:p>
        </p:txBody>
      </p:sp>
    </p:spTree>
    <p:extLst>
      <p:ext uri="{BB962C8B-B14F-4D97-AF65-F5344CB8AC3E}">
        <p14:creationId xmlns:p14="http://schemas.microsoft.com/office/powerpoint/2010/main" val="1079331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BD98DCE-8DE9-485C-9250-D167281E240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  /  PARTNERSHIP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9B4CA8-FEA7-4256-932B-B87BFA669840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Start with a scoped discovery engagement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9D9CBE-2917-4C5C-A821-E3EE17B764EA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The first decision is agreement on people, scope and the evidence needed to proceed.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E2B057-2E69-42AA-A935-B03CFC2A270C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95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A780CB-B0CE-451D-8D29-489D51EFE7C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Confidential discussion draft  |  08 October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7423C1-8128-4801-B19C-E0681A7B53B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DD4949-CC0C-4F3B-8615-B1961FBAB100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01   Share a controlled demo and repository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25EA8A-CEE3-4E3A-9497-8BDB814EDB17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02   Review backend, integrations and pilot data volumes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99BED5-EF41-4DC3-B87D-2AB575A5F455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03   Agree the backlog, estimate and acceptance criteria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C9D927-C40E-4F28-92DE-476DDD11E43D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1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04   Sign the statement of work and begin delivery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C95620-1460-43E9-9DC7-4B4106A051EC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0972800" cy="504825"/>
          </a:xfrm>
          <a:prstGeom prst="rect">
            <a:avLst/>
          </a:prstGeom>
          <a:solidFill>
            <a:srgbClr val="14283E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C68775-0293-48F8-BD49-F69C7283CA79}"/>
              </a:ext>
            </a:extLst>
          </p:cNvPr>
          <p:cNvSpPr>
            <a:spLocks noGrp="1"/>
          </p:cNvSpPr>
          <p:nvPr/>
        </p:nvSpPr>
        <p:spPr>
          <a:xfrm>
            <a:off x="781050" y="5676900"/>
            <a:ext cx="106203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DISCUSSION OUTCOME  •  Named partner lead + discovery scope + agreed next meeting</a:t>
            </a:r>
          </a:p>
        </p:txBody>
      </p:sp>
    </p:spTree>
    <p:extLst>
      <p:ext uri="{BB962C8B-B14F-4D97-AF65-F5344CB8AC3E}">
        <p14:creationId xmlns:p14="http://schemas.microsoft.com/office/powerpoint/2010/main" val="636403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252C33D-AA21-4B4A-AE8E-65D5116E9A67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95250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0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HANURAM TECH  /  PARTNERSHIP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161CB7-A009-4C68-9669-688E39D81544}"/>
              </a:ext>
            </a:extLst>
          </p:cNvPr>
          <p:cNvSpPr>
            <a:spLocks noGrp="1"/>
          </p:cNvSpPr>
          <p:nvPr/>
        </p:nvSpPr>
        <p:spPr>
          <a:xfrm>
            <a:off x="609600" y="800100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150" b="1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3F6FA"/>
                </a:solidFill>
                <a:latin typeface="Arial"/>
                <a:ea typeface="Arial"/>
                <a:cs typeface="Arial"/>
              </a:rPr>
              <a:t>Evidence and estimation assumptions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4F7413-1557-454D-AE54-E825B85F1B97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Prepared from the local project source reviewed on 08 October 2026.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06187F-5654-485D-AE85-41EB2048891A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972800" cy="9525"/>
          </a:xfrm>
          <a:prstGeom prst="rect">
            <a:avLst/>
          </a:prstGeom>
          <a:solidFill>
            <a:srgbClr val="29415B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FAC10-7E83-40F0-9127-66F9DE5F3BA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9525000" cy="171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Confidential discussion draft  |  08 October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1595A7-A13F-4A21-ABF9-435A17504C30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33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4A00D0-3624-4805-967A-258DBD6DB094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PROJECT EVIDENCE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9B684A-A696-4373-BBE8-044B674579B8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5191125" cy="1952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package.json — frontend libraries and scripts</a:t>
            </a:r>
          </a:p>
          <a:p>
            <a:pPr>
              <a:defRPr sz="15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README — backend stack, Docker and CI/CD limitations</a:t>
            </a:r>
          </a:p>
          <a:p>
            <a:pPr>
              <a:defRPr sz="15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AppRoutes + sidebarModules — product module inventory</a:t>
            </a:r>
          </a:p>
          <a:p>
            <a:pPr>
              <a:defRPr sz="15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Import and WhatsApp components — workflow presence</a:t>
            </a:r>
          </a:p>
          <a:p>
            <a:pPr>
              <a:defRPr sz="15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API services — frontend integration boundaries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F88409-1528-4107-AB57-C92E500EA20B}"/>
              </a:ext>
            </a:extLst>
          </p:cNvPr>
          <p:cNvSpPr>
            <a:spLocks noGrp="1"/>
          </p:cNvSpPr>
          <p:nvPr/>
        </p:nvSpPr>
        <p:spPr>
          <a:xfrm>
            <a:off x="6477000" y="2476500"/>
            <a:ext cx="51054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725" b="1">
                <a:solidFill>
                  <a:srgbClr val="42D6B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2D6B2"/>
                </a:solidFill>
                <a:latin typeface="Arial"/>
                <a:ea typeface="Arial"/>
                <a:cs typeface="Arial"/>
              </a:rPr>
              <a:t>ESTIMATION BASIS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97EC32-97BF-4D0A-9062-96A00462927B}"/>
              </a:ext>
            </a:extLst>
          </p:cNvPr>
          <p:cNvSpPr>
            <a:spLocks noGrp="1"/>
          </p:cNvSpPr>
          <p:nvPr/>
        </p:nvSpPr>
        <p:spPr>
          <a:xfrm>
            <a:off x="6477000" y="3000375"/>
            <a:ext cx="5105400" cy="2333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All costs, effort and timing are author planning assumptions.</a:t>
            </a:r>
          </a:p>
          <a:p>
            <a:pPr>
              <a:defRPr sz="15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No supplier quotations or market-rate claims are included.</a:t>
            </a:r>
          </a:p>
          <a:p>
            <a:pPr>
              <a:defRPr sz="15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Existing code reuse; one pilot and one messaging provider.</a:t>
            </a:r>
          </a:p>
          <a:p>
            <a:pPr>
              <a:defRPr sz="15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No production audit, load test or live demo was performed.</a:t>
            </a:r>
          </a:p>
          <a:p>
            <a:pPr>
              <a:defRPr sz="1575" b="0">
                <a:solidFill>
                  <a:srgbClr val="F3F6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3F6FA"/>
                </a:solidFill>
                <a:latin typeface="Arial"/>
                <a:ea typeface="Arial"/>
                <a:cs typeface="Arial"/>
              </a:rPr>
              <a:t>Backend technology is documented, not independently inspected.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ACDC73-2303-48EE-AE5F-578B2A04C289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B3C3D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3D5"/>
                </a:solidFill>
                <a:latin typeface="Arial"/>
                <a:ea typeface="Arial"/>
                <a:cs typeface="Arial"/>
              </a:rPr>
              <a:t>No customer, revenue, ROI or production-readiness claims are made. Final scope and commercials require joint discovery.</a:t>
            </a:r>
          </a:p>
        </p:txBody>
      </p:sp>
    </p:spTree>
    <p:extLst>
      <p:ext uri="{BB962C8B-B14F-4D97-AF65-F5344CB8AC3E}">
        <p14:creationId xmlns:p14="http://schemas.microsoft.com/office/powerpoint/2010/main" val="12365946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1449</Words>
  <Application>Microsoft Office PowerPoint</Application>
  <DocSecurity>0</DocSecurity>
  <PresentationFormat>Widescreen</PresentationFormat>
  <Paragraphs>330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Surendra</cp:lastModifiedBy>
  <cp:revision>1</cp:revision>
  <dcterms:created xsi:type="dcterms:W3CDTF">2026-10-08T08:16:29Z</dcterms:created>
  <dcterms:modified xsi:type="dcterms:W3CDTF">2026-10-08T08:20:52Z</dcterms:modified>
</cp:coreProperties>
</file>